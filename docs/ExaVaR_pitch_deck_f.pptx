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50" b="0" i="0" u="none" strike="noStrike">
                <a:solidFill>
                  <a:srgbClr val="1A1D21"/>
                </a:solidFill>
                <a:latin typeface="Calibri"/>
              </a:defRPr>
            </a:pPr>
            <a:r>
              <a:rPr lang="en-IN" sz="1450" b="0" i="0" u="none" strike="noStrike">
                <a:solidFill>
                  <a:srgbClr val="1A1D21"/>
                </a:solidFill>
                <a:latin typeface="Calibri"/>
              </a:rPr>
              <a:t>Latency by engine (ms)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Exasol Personal</c:v>
                </c:pt>
              </c:strCache>
            </c:strRef>
          </c:tx>
          <c:spPr>
            <a:solidFill>
              <a:srgbClr val="1A1D2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50" b="0" i="0" u="none" strike="noStrike">
                    <a:solidFill>
                      <a:srgbClr val="1A1D2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Median latency</c:v>
                </c:pt>
                <c:pt idx="1">
                  <c:v>P95 latency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</c:v>
                </c:pt>
                <c:pt idx="1">
                  <c:v>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69-423B-B9D1-595B7319198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Pandas (full recompute)</c:v>
                </c:pt>
              </c:strCache>
            </c:strRef>
          </c:tx>
          <c:spPr>
            <a:solidFill>
              <a:srgbClr val="E8912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50" b="0" i="0" u="none" strike="noStrike">
                    <a:solidFill>
                      <a:srgbClr val="1A1D2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Median latency</c:v>
                </c:pt>
                <c:pt idx="1">
                  <c:v>P95 latency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30.4</c:v>
                </c:pt>
                <c:pt idx="1">
                  <c:v>40.299999999999997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269-423B-B9D1-595B7319198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6B6F7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EDD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6B6F7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50">
              <a:solidFill>
                <a:srgbClr val="6B6F76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8063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4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2F0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ExaVaR</a:t>
            </a:r>
            <a:endParaRPr lang="en-US" sz="6800" dirty="0"/>
          </a:p>
        </p:txBody>
      </p:sp>
      <p:sp>
        <p:nvSpPr>
          <p:cNvPr id="3" name="Text 1"/>
          <p:cNvSpPr/>
          <p:nvPr/>
        </p:nvSpPr>
        <p:spPr>
          <a:xfrm>
            <a:off x="868680" y="3337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Portfolio Risk Terminal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" y="3886200"/>
            <a:ext cx="6492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9A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95% Value-at-Risk, computed live inside Exasol's in-memory analytics engine.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503920" y="1463040"/>
            <a:ext cx="2880360" cy="3931920"/>
          </a:xfrm>
          <a:prstGeom prst="rect">
            <a:avLst/>
          </a:prstGeom>
          <a:solidFill>
            <a:srgbClr val="0E1013"/>
          </a:solidFill>
          <a:ln w="12700">
            <a:solidFill>
              <a:srgbClr val="2A2E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732520" y="16459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A9AD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TERMINAL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732520" y="212140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AD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95% 1D VAR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732520" y="2368296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91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-$1,284.50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732520" y="289864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AD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NOTIONAL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732520" y="3145536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$100,000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732520" y="367588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AD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LATENCY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732520" y="3922776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 ms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732520" y="445312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AD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 SCANNED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32520" y="4700016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12,480 -&gt; 1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732520" y="5276088"/>
            <a:ext cx="2423160" cy="0"/>
          </a:xfrm>
          <a:prstGeom prst="line">
            <a:avLst/>
          </a:prstGeom>
          <a:noFill/>
          <a:ln w="12700">
            <a:solidFill>
              <a:srgbClr val="2A2E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732520" y="541324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ExaVaR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645920"/>
            <a:ext cx="1234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chemeClr val="bg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8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600200" y="1856232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real-time view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2313432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and semi-professional investors have no accessible way to see downside risk across a mixed equity-crypto portfolio.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081528"/>
            <a:ext cx="11247120" cy="0"/>
          </a:xfrm>
          <a:prstGeom prst="line">
            <a:avLst/>
          </a:prstGeom>
          <a:noFill/>
          <a:ln w="12700">
            <a:solidFill>
              <a:srgbClr val="DEDD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3127248"/>
            <a:ext cx="1234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chemeClr val="bg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58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600200" y="333756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Spreadsheets are static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00200" y="379476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spreadsheet model can't move with the market — it's stale the moment prices change.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562856"/>
            <a:ext cx="11247120" cy="0"/>
          </a:xfrm>
          <a:prstGeom prst="line">
            <a:avLst/>
          </a:prstGeom>
          <a:noFill/>
          <a:ln w="12700">
            <a:solidFill>
              <a:srgbClr val="DEDD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65760" y="4608576"/>
            <a:ext cx="1234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chemeClr val="bg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58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1600200" y="481888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Institutions paywall the math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00200" y="5276088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risk platforms require expensive subscriptions or institutional access, even though the underlying math is standard and well established.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ExaVaR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929384"/>
            <a:ext cx="137160" cy="137160"/>
          </a:xfrm>
          <a:prstGeom prst="rect">
            <a:avLst/>
          </a:prstGeom>
          <a:solidFill>
            <a:srgbClr val="E891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1755648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live, interactive 95% 1-day Value-at-Risk terminal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715768"/>
            <a:ext cx="137160" cy="137160"/>
          </a:xfrm>
          <a:prstGeom prst="rect">
            <a:avLst/>
          </a:prstGeom>
          <a:solidFill>
            <a:srgbClr val="E891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77240" y="2542032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8-asset portfolio — 5 equities and 3 cryptocurrencies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502152"/>
            <a:ext cx="137160" cy="137160"/>
          </a:xfrm>
          <a:prstGeom prst="rect">
            <a:avLst/>
          </a:prstGeom>
          <a:solidFill>
            <a:srgbClr val="E891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77240" y="3328416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year of 1-minute market data — 12,480 aligned rows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4288536"/>
            <a:ext cx="137160" cy="137160"/>
          </a:xfrm>
          <a:prstGeom prst="rect">
            <a:avLst/>
          </a:prstGeom>
          <a:solidFill>
            <a:srgbClr val="E891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77240" y="411480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 slider, get dollar VaR, a distribution chart, latency, and the executed SQL — in under 150 ms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5074920"/>
            <a:ext cx="137160" cy="137160"/>
          </a:xfrm>
          <a:prstGeom prst="rect">
            <a:avLst/>
          </a:prstGeom>
          <a:solidFill>
            <a:srgbClr val="E891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77240" y="4901184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open, and running entirely in the browser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35240" y="187452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VAR (1-DAY)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635240" y="2203704"/>
            <a:ext cx="4069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91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-$1,284.50</a:t>
            </a:r>
            <a:endParaRPr lang="en-US" sz="3400" dirty="0"/>
          </a:p>
        </p:txBody>
      </p:sp>
      <p:sp>
        <p:nvSpPr>
          <p:cNvPr id="17" name="Shape 15"/>
          <p:cNvSpPr/>
          <p:nvPr/>
        </p:nvSpPr>
        <p:spPr>
          <a:xfrm>
            <a:off x="7635240" y="3081528"/>
            <a:ext cx="4069080" cy="0"/>
          </a:xfrm>
          <a:prstGeom prst="line">
            <a:avLst/>
          </a:prstGeom>
          <a:noFill/>
          <a:ln w="12700">
            <a:solidFill>
              <a:srgbClr val="DEDD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635240" y="324612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% OF NOTIONAL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635240" y="3575304"/>
            <a:ext cx="4069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-1.28%</a:t>
            </a:r>
            <a:endParaRPr lang="en-US" sz="3400" dirty="0"/>
          </a:p>
        </p:txBody>
      </p:sp>
      <p:sp>
        <p:nvSpPr>
          <p:cNvPr id="20" name="Shape 18"/>
          <p:cNvSpPr/>
          <p:nvPr/>
        </p:nvSpPr>
        <p:spPr>
          <a:xfrm>
            <a:off x="7635240" y="4453128"/>
            <a:ext cx="4069080" cy="0"/>
          </a:xfrm>
          <a:prstGeom prst="line">
            <a:avLst/>
          </a:prstGeom>
          <a:noFill/>
          <a:ln w="12700">
            <a:solidFill>
              <a:srgbClr val="DEDD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635240" y="461772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LATENCY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35240" y="4946904"/>
            <a:ext cx="4069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E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 ms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7635240" y="5742432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Sliders for all 8 assets — AAPL, NVDA, AMD, MSFT, GOOGL, BTC, ETH, SOL — normalized automatically</a:t>
            </a:r>
            <a:r>
              <a:rPr lang="en-US" sz="115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ExaVaR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Now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2039112"/>
            <a:ext cx="146304" cy="146304"/>
          </a:xfrm>
          <a:prstGeom prst="rect">
            <a:avLst/>
          </a:prstGeom>
          <a:solidFill>
            <a:srgbClr val="E891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04672" y="1892808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Portfolios changed, tools didn't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04672" y="231343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investors now hold combined equity and crypto positions — legacy risk tools were never built for that mix.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11247120" cy="0"/>
          </a:xfrm>
          <a:prstGeom prst="line">
            <a:avLst/>
          </a:prstGeom>
          <a:noFill/>
          <a:ln w="12700">
            <a:solidFill>
              <a:srgbClr val="DEDD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" y="3410712"/>
            <a:ext cx="146304" cy="146304"/>
          </a:xfrm>
          <a:prstGeom prst="rect">
            <a:avLst/>
          </a:prstGeom>
          <a:solidFill>
            <a:srgbClr val="E891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04672" y="3264408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In-memory analytics matured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04672" y="368503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Columnar, in-memory databases like Exasol make institutional-grade computation practical outside large institutions.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526280"/>
            <a:ext cx="11247120" cy="0"/>
          </a:xfrm>
          <a:prstGeom prst="line">
            <a:avLst/>
          </a:prstGeom>
          <a:noFill/>
          <a:ln w="12700">
            <a:solidFill>
              <a:srgbClr val="DEDD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57200" y="4782312"/>
            <a:ext cx="146304" cy="146304"/>
          </a:xfrm>
          <a:prstGeom prst="rect">
            <a:avLst/>
          </a:prstGeom>
          <a:solidFill>
            <a:srgbClr val="E891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04672" y="4636008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stack got cheap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04672" y="505663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market data plus lightweight frameworks (FastAPI, Chart.js) remove the cost that used to require a Bloomberg terminal.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ExaVaR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901952"/>
            <a:ext cx="146304" cy="146304"/>
          </a:xfrm>
          <a:prstGeom prst="rect">
            <a:avLst/>
          </a:prstGeom>
          <a:solidFill>
            <a:srgbClr val="E891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04672" y="1755648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VaR computation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04672" y="2157984"/>
            <a:ext cx="5074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allocation sliders and get an updated 95% VaR dollar loss in real time.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3090672"/>
            <a:ext cx="5440680" cy="0"/>
          </a:xfrm>
          <a:prstGeom prst="line">
            <a:avLst/>
          </a:prstGeom>
          <a:noFill/>
          <a:ln w="12700">
            <a:solidFill>
              <a:srgbClr val="DEDD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" y="3364992"/>
            <a:ext cx="146304" cy="146304"/>
          </a:xfrm>
          <a:prstGeom prst="rect">
            <a:avLst/>
          </a:prstGeom>
          <a:solidFill>
            <a:srgbClr val="E891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04672" y="3218688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distribution chart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04672" y="3621024"/>
            <a:ext cx="5074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Gaussian return distribution with the 5th-percentile cutoff marked, rendered live.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4553712"/>
            <a:ext cx="5440680" cy="0"/>
          </a:xfrm>
          <a:prstGeom prst="line">
            <a:avLst/>
          </a:prstGeom>
          <a:noFill/>
          <a:ln w="12700">
            <a:solidFill>
              <a:srgbClr val="DEDD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57200" y="4828032"/>
            <a:ext cx="146304" cy="146304"/>
          </a:xfrm>
          <a:prstGeom prst="rect">
            <a:avLst/>
          </a:prstGeom>
          <a:solidFill>
            <a:srgbClr val="E891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04672" y="4681728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inspector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04672" y="5084064"/>
            <a:ext cx="5074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exact parameterized query, with bound values, after every calculation.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1901952"/>
            <a:ext cx="146304" cy="146304"/>
          </a:xfrm>
          <a:prstGeom prst="rect">
            <a:avLst/>
          </a:prstGeom>
          <a:solidFill>
            <a:srgbClr val="E891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611112" y="1755648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Latency display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611112" y="2157984"/>
            <a:ext cx="5074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perf_counter() timing shown directly in the UI, run after run.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3090672"/>
            <a:ext cx="5440680" cy="0"/>
          </a:xfrm>
          <a:prstGeom prst="line">
            <a:avLst/>
          </a:prstGeom>
          <a:noFill/>
          <a:ln w="12700">
            <a:solidFill>
              <a:srgbClr val="DEDD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263640" y="3364992"/>
            <a:ext cx="146304" cy="146304"/>
          </a:xfrm>
          <a:prstGeom prst="rect">
            <a:avLst/>
          </a:prstGeom>
          <a:solidFill>
            <a:srgbClr val="E891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611112" y="3218688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 asset-class support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6611112" y="3621024"/>
            <a:ext cx="5074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Equities on NYSE hours and crypto filtered to the same hours, on one shared timestamp grid.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63640" y="4553712"/>
            <a:ext cx="5440680" cy="0"/>
          </a:xfrm>
          <a:prstGeom prst="line">
            <a:avLst/>
          </a:prstGeom>
          <a:noFill/>
          <a:ln w="12700">
            <a:solidFill>
              <a:srgbClr val="DEDD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263640" y="4828032"/>
            <a:ext cx="146304" cy="146304"/>
          </a:xfrm>
          <a:prstGeom prst="rect">
            <a:avLst/>
          </a:prstGeom>
          <a:solidFill>
            <a:srgbClr val="E891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611112" y="4681728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Notional scaling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6611112" y="5084064"/>
            <a:ext cx="5074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any portfolio size; VaR scales accordingly, with graceful fallback if Exasol is unreachable.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062472" y="1783080"/>
            <a:ext cx="0" cy="4160520"/>
          </a:xfrm>
          <a:prstGeom prst="line">
            <a:avLst/>
          </a:prstGeom>
          <a:noFill/>
          <a:ln w="12700">
            <a:solidFill>
              <a:srgbClr val="DEDD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ExaVaR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78638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D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91109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D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31520" y="226771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allocation sliders -&gt; POST /api/var -&gt; charts, VaR badge, SQL inspector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60520" y="28986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912D"/>
                </a:solidFill>
              </a:rPr>
              <a:t>↓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3264408"/>
            <a:ext cx="78638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D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31520" y="339242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D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  ·  server.py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31520" y="3749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Normalizes allocations, executes the frozen var_query.sql over a persistent PyExasol connection, times the round trip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60520" y="437997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912D"/>
                </a:solidFill>
              </a:rPr>
              <a:t>↓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57200" y="4745736"/>
            <a:ext cx="7863840" cy="1115568"/>
          </a:xfrm>
          <a:prstGeom prst="rect">
            <a:avLst/>
          </a:prstGeom>
          <a:solidFill>
            <a:srgbClr val="1A1D21"/>
          </a:solidFill>
          <a:ln w="12700">
            <a:solidFill>
              <a:srgbClr val="DEDD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31520" y="48737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91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EXASOL PERSONAL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31520" y="523036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A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EXAVAR.PRICE_BARS — 12,480 rows. PERCENTILE_CONT and weighted aggregation run in-memory, columnar. Returns one scalar.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41080" y="2743200"/>
            <a:ext cx="2880360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8912D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869680" y="292608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ingestion.py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869680" y="3291840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7-stage pipeline, run once: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-&gt; validate -&gt; normalize tz -&gt; filter market hours -&gt; align -&gt; log returns -&gt; bulk load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321040" y="3954780"/>
            <a:ext cx="320040" cy="0"/>
          </a:xfrm>
          <a:prstGeom prst="line">
            <a:avLst/>
          </a:prstGeom>
          <a:noFill/>
          <a:ln w="19050">
            <a:solidFill>
              <a:srgbClr val="E8912D"/>
            </a:solidFill>
            <a:prstDash val="dash"/>
            <a:tailEnd type="triangle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ExaVaR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Exasol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50-iteration benchmark, same 12,480-row dataset</a:t>
            </a:r>
            <a:endParaRPr lang="en-US" sz="13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645920"/>
          <a:ext cx="630936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086600" y="1709928"/>
            <a:ext cx="137160" cy="137160"/>
          </a:xfrm>
          <a:prstGeom prst="rect">
            <a:avLst/>
          </a:prstGeom>
          <a:solidFill>
            <a:srgbClr val="E891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360920" y="157276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Pushdown analytics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60920" y="192024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PERCENTILE_CONT and weighted aggregation run inside Exasol. Python receives 1 scalar, not 12,480 rows.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086600" y="3008376"/>
            <a:ext cx="137160" cy="137160"/>
          </a:xfrm>
          <a:prstGeom prst="rect">
            <a:avLst/>
          </a:prstGeom>
          <a:solidFill>
            <a:srgbClr val="E891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360920" y="287121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Persistent connection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360920" y="3218688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PyExasol connection lives for the server's lifetime — no reconnect or CSV re-read per request.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086600" y="4306824"/>
            <a:ext cx="137160" cy="137160"/>
          </a:xfrm>
          <a:prstGeom prst="rect">
            <a:avLst/>
          </a:prstGeom>
          <a:solidFill>
            <a:srgbClr val="E891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7360920" y="4169664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Scales past this dataset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360920" y="4517136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 system spans millions of bars across hundreds of assets — where in-memory columnar execution pulls ahead.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02920" y="5989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chemeClr val="bg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this small dataset, raw latency is comparable — the architecture advantage compounds at scale.</a:t>
            </a:r>
            <a:endParaRPr lang="en-US" sz="135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ExaVaR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 Landscape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2651760" cy="530352"/>
          </a:xfrm>
          <a:prstGeom prst="rect">
            <a:avLst/>
          </a:prstGeom>
          <a:solidFill>
            <a:srgbClr val="1A1D21"/>
          </a:solidFill>
          <a:ln w="9525">
            <a:solidFill>
              <a:srgbClr val="F2F0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66928" y="1965960"/>
            <a:ext cx="243230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108960" y="1965960"/>
            <a:ext cx="1920240" cy="530352"/>
          </a:xfrm>
          <a:prstGeom prst="rect">
            <a:avLst/>
          </a:prstGeom>
          <a:solidFill>
            <a:srgbClr val="1A1D21"/>
          </a:solidFill>
          <a:ln w="9525">
            <a:solidFill>
              <a:srgbClr val="F2F0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18688" y="1965960"/>
            <a:ext cx="17007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0" y="1965960"/>
            <a:ext cx="2468880" cy="530352"/>
          </a:xfrm>
          <a:prstGeom prst="rect">
            <a:avLst/>
          </a:prstGeom>
          <a:solidFill>
            <a:srgbClr val="1A1D21"/>
          </a:solidFill>
          <a:ln w="9525">
            <a:solidFill>
              <a:srgbClr val="F2F0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138928" y="1965960"/>
            <a:ext cx="22494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98080" y="1965960"/>
            <a:ext cx="2011680" cy="530352"/>
          </a:xfrm>
          <a:prstGeom prst="rect">
            <a:avLst/>
          </a:prstGeom>
          <a:solidFill>
            <a:srgbClr val="1A1D21"/>
          </a:solidFill>
          <a:ln w="9525">
            <a:solidFill>
              <a:srgbClr val="F2F0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607808" y="1965960"/>
            <a:ext cx="17922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+ crypto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509760" y="1965960"/>
            <a:ext cx="2194560" cy="530352"/>
          </a:xfrm>
          <a:prstGeom prst="rect">
            <a:avLst/>
          </a:prstGeom>
          <a:solidFill>
            <a:srgbClr val="1A1D21"/>
          </a:solidFill>
          <a:ln w="9525">
            <a:solidFill>
              <a:srgbClr val="F2F0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619488" y="1965960"/>
            <a:ext cx="197510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496312"/>
            <a:ext cx="26517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EDD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66928" y="2496312"/>
            <a:ext cx="24323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3108960" y="2496312"/>
            <a:ext cx="19202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EDD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218688" y="2496312"/>
            <a:ext cx="17007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29200" y="2496312"/>
            <a:ext cx="24688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EDD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138928" y="2496312"/>
            <a:ext cx="22494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498080" y="2496312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EDD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607808" y="2496312"/>
            <a:ext cx="17922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509760" y="2496312"/>
            <a:ext cx="21945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EDD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9619488" y="2496312"/>
            <a:ext cx="19751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formulas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57200" y="3319272"/>
            <a:ext cx="26517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EDD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66928" y="3319272"/>
            <a:ext cx="24323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platforms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3108960" y="3319272"/>
            <a:ext cx="19202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EDD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218688" y="3319272"/>
            <a:ext cx="17007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029200" y="3319272"/>
            <a:ext cx="24688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EDD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138928" y="3319272"/>
            <a:ext cx="22494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/ paywalled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7498080" y="3319272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EDD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7607808" y="3319272"/>
            <a:ext cx="17922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9509760" y="3319272"/>
            <a:ext cx="21945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EDD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9619488" y="3319272"/>
            <a:ext cx="19751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457200" y="4142232"/>
            <a:ext cx="26517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EDD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66928" y="4142232"/>
            <a:ext cx="24323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 Python scripts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3108960" y="4142232"/>
            <a:ext cx="19202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EDD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218688" y="4142232"/>
            <a:ext cx="17007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5029200" y="4142232"/>
            <a:ext cx="24688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EDD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138928" y="4142232"/>
            <a:ext cx="22494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7498080" y="4142232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EDD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7607808" y="4142232"/>
            <a:ext cx="17922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setup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9509760" y="4142232"/>
            <a:ext cx="21945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EDD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9619488" y="4142232"/>
            <a:ext cx="19751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Single-user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457200" y="4965192"/>
            <a:ext cx="2651760" cy="822960"/>
          </a:xfrm>
          <a:prstGeom prst="rect">
            <a:avLst/>
          </a:prstGeom>
          <a:solidFill>
            <a:srgbClr val="FCEFDD"/>
          </a:solidFill>
          <a:ln w="9525">
            <a:solidFill>
              <a:srgbClr val="DEDD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566928" y="4965192"/>
            <a:ext cx="24323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ExaVaR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3108960" y="4965192"/>
            <a:ext cx="1920240" cy="822960"/>
          </a:xfrm>
          <a:prstGeom prst="rect">
            <a:avLst/>
          </a:prstGeom>
          <a:solidFill>
            <a:srgbClr val="FCEFDD"/>
          </a:solidFill>
          <a:ln w="9525">
            <a:solidFill>
              <a:srgbClr val="DEDD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3218688" y="4965192"/>
            <a:ext cx="17007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5029200" y="4965192"/>
            <a:ext cx="2468880" cy="822960"/>
          </a:xfrm>
          <a:prstGeom prst="rect">
            <a:avLst/>
          </a:prstGeom>
          <a:solidFill>
            <a:srgbClr val="FCEFDD"/>
          </a:solidFill>
          <a:ln w="9525">
            <a:solidFill>
              <a:srgbClr val="DEDD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5138928" y="4965192"/>
            <a:ext cx="22494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350" dirty="0"/>
          </a:p>
        </p:txBody>
      </p:sp>
      <p:sp>
        <p:nvSpPr>
          <p:cNvPr id="51" name="Shape 49"/>
          <p:cNvSpPr/>
          <p:nvPr/>
        </p:nvSpPr>
        <p:spPr>
          <a:xfrm>
            <a:off x="7498080" y="4965192"/>
            <a:ext cx="2011680" cy="822960"/>
          </a:xfrm>
          <a:prstGeom prst="rect">
            <a:avLst/>
          </a:prstGeom>
          <a:solidFill>
            <a:srgbClr val="FCEFDD"/>
          </a:solidFill>
          <a:ln w="9525">
            <a:solidFill>
              <a:srgbClr val="DEDD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7607808" y="4965192"/>
            <a:ext cx="17922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350" dirty="0"/>
          </a:p>
        </p:txBody>
      </p:sp>
      <p:sp>
        <p:nvSpPr>
          <p:cNvPr id="53" name="Shape 51"/>
          <p:cNvSpPr/>
          <p:nvPr/>
        </p:nvSpPr>
        <p:spPr>
          <a:xfrm>
            <a:off x="9509760" y="4965192"/>
            <a:ext cx="2194560" cy="822960"/>
          </a:xfrm>
          <a:prstGeom prst="rect">
            <a:avLst/>
          </a:prstGeom>
          <a:solidFill>
            <a:srgbClr val="FCEFDD"/>
          </a:solidFill>
          <a:ln w="9525">
            <a:solidFill>
              <a:srgbClr val="DEDD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9619488" y="4965192"/>
            <a:ext cx="19751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SQL inspector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ExaVaR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&amp; Performance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91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 ms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80720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Median query latency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 150 ms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64992" y="19659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91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 ms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364992" y="280720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P95 query latency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364992" y="3337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 150 ms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36976" y="1874520"/>
            <a:ext cx="0" cy="1783080"/>
          </a:xfrm>
          <a:prstGeom prst="line">
            <a:avLst/>
          </a:prstGeom>
          <a:noFill/>
          <a:ln w="12700">
            <a:solidFill>
              <a:srgbClr val="DEDD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272784" y="19659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91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12,480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272784" y="280720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Rows validated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272784" y="3337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 acceptance checks pass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44768" y="1874520"/>
            <a:ext cx="0" cy="1783080"/>
          </a:xfrm>
          <a:prstGeom prst="line">
            <a:avLst/>
          </a:prstGeom>
          <a:noFill/>
          <a:ln w="12700">
            <a:solidFill>
              <a:srgbClr val="DEDD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180576" y="19659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91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/ 7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9180576" y="280720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 stages unit tested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180576" y="3337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through bulk-load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52560" y="1874520"/>
            <a:ext cx="0" cy="1783080"/>
          </a:xfrm>
          <a:prstGeom prst="line">
            <a:avLst/>
          </a:prstGeom>
          <a:noFill/>
          <a:ln w="12700">
            <a:solidFill>
              <a:srgbClr val="DEDD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57200" y="4160520"/>
            <a:ext cx="11247120" cy="0"/>
          </a:xfrm>
          <a:prstGeom prst="line">
            <a:avLst/>
          </a:prstGeom>
          <a:noFill/>
          <a:ln w="12700">
            <a:solidFill>
              <a:srgbClr val="DEDD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57200" y="4590288"/>
            <a:ext cx="201168" cy="201168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57200" y="4553712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F0E9"/>
                </a:solidFill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86384" y="4517136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freeze_verify.py — each CTE stage checked independently, then against the composed query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5102352"/>
            <a:ext cx="201168" cy="201168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57200" y="5065776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F0E9"/>
                </a:solidFill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86384" y="5029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verify_parameterized.py — parameterized query correctness across known allocation inputs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5614416"/>
            <a:ext cx="201168" cy="201168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57200" y="557784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F0E9"/>
                </a:solidFill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86384" y="5541264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validate.py — row counts, NULL checks, duplicate (asset, ts) pairs, timestamp alignment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ExaVaR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2960" y="3246120"/>
            <a:ext cx="10515600" cy="0"/>
          </a:xfrm>
          <a:prstGeom prst="line">
            <a:avLst/>
          </a:prstGeom>
          <a:noFill/>
          <a:ln w="19050">
            <a:solidFill>
              <a:srgbClr val="DEDD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048256" y="3145536"/>
            <a:ext cx="201168" cy="201168"/>
          </a:xfrm>
          <a:prstGeom prst="ellipse">
            <a:avLst/>
          </a:prstGeom>
          <a:solidFill>
            <a:srgbClr val="1A1D2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5800" y="2468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150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8-asset portfolio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4348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12,480 rows, 1 year of 1-min data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2120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3-stage VaR query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80176" y="3145536"/>
            <a:ext cx="201168" cy="201168"/>
          </a:xfrm>
          <a:prstGeom prst="ellipse">
            <a:avLst/>
          </a:prstGeom>
          <a:solidFill>
            <a:srgbClr val="E8912D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617720" y="2468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150" dirty="0">
                <a:solidFill>
                  <a:srgbClr val="E891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0" y="36576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assets, tick-level data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44348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risk metrics — CVaR, stress tests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52120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Saved, multi-user portfolios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912096" y="3145536"/>
            <a:ext cx="201168" cy="201168"/>
          </a:xfrm>
          <a:prstGeom prst="ellipse">
            <a:avLst/>
          </a:prstGeom>
          <a:solidFill>
            <a:srgbClr val="8C8F9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549640" y="2468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150" dirty="0">
                <a:solidFill>
                  <a:srgbClr val="8C8F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03920" y="36576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bars, hundreds of assets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03920" y="44348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Cloud-hosted Exasol deployment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03920" y="52120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Public, always-on risk terminal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4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9A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9A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ExaVaR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2F0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868680" y="352044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ExaVaR — institutional-grade portfolio risk, in your browser, for free.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40690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9A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Exasol Hackathon  ·  Powered by Exasol Personal, FastAPI, and PyExasol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836</Words>
  <Application>Microsoft Office PowerPoint</Application>
  <PresentationFormat>Widescreen</PresentationFormat>
  <Paragraphs>168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Shanmukh .B</cp:lastModifiedBy>
  <cp:revision>3</cp:revision>
  <dcterms:created xsi:type="dcterms:W3CDTF">2026-09-13T14:51:00Z</dcterms:created>
  <dcterms:modified xsi:type="dcterms:W3CDTF">2026-09-13T17:07:40Z</dcterms:modified>
</cp:coreProperties>
</file>